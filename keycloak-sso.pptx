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14da609e4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14da609e4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14da609e4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14da609e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14da609e43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14da609e4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f6a107869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f6a107869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1511a7395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1511a7395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15c8d9752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15c8d9752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15c8d975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15c8d975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14da609e43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14da609e43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15c8d9752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15c8d9752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1511a7395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1511a7395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1511a7395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1511a7395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1511a7395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1511a7395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1511a7395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1511a7395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1511a7395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1511a7395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hyperlink" Target="https://www.keycloak.org/" TargetMode="External"/><Relationship Id="rId9" Type="http://schemas.openxmlformats.org/officeDocument/2006/relationships/hyperlink" Target="https://medium.com/codex/introduction-to-keycloak-227c3902754a" TargetMode="External"/><Relationship Id="rId5" Type="http://schemas.openxmlformats.org/officeDocument/2006/relationships/hyperlink" Target="https://www.keycloak.org/docs/latest/server_admin/" TargetMode="External"/><Relationship Id="rId6" Type="http://schemas.openxmlformats.org/officeDocument/2006/relationships/hyperlink" Target="https://www.keycloak.org/docs/latest/release_notes/index.html" TargetMode="External"/><Relationship Id="rId7" Type="http://schemas.openxmlformats.org/officeDocument/2006/relationships/hyperlink" Target="https://www.keycloak.org/docs-api/21.0.1/rest-api/index.html" TargetMode="External"/><Relationship Id="rId8" Type="http://schemas.openxmlformats.org/officeDocument/2006/relationships/hyperlink" Target="https://github.com/keycloak/keycloak-nodejs-admin-clien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16475" y="1648975"/>
            <a:ext cx="8520600" cy="1444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000"/>
              <a:t>Welcome</a:t>
            </a:r>
            <a:endParaRPr sz="4000"/>
          </a:p>
          <a:p>
            <a:pPr indent="0" lvl="0" marL="0" rtl="0" algn="ctr">
              <a:spcBef>
                <a:spcPts val="0"/>
              </a:spcBef>
              <a:spcAft>
                <a:spcPts val="0"/>
              </a:spcAft>
              <a:buNone/>
            </a:pPr>
            <a:r>
              <a:rPr lang="en" sz="4000"/>
              <a:t>T</a:t>
            </a:r>
            <a:r>
              <a:rPr lang="en" sz="4000"/>
              <a:t>o</a:t>
            </a:r>
            <a:r>
              <a:rPr lang="en" sz="4000"/>
              <a:t> </a:t>
            </a:r>
            <a:r>
              <a:rPr lang="en" sz="2600"/>
              <a:t>the introduction</a:t>
            </a:r>
            <a:r>
              <a:rPr lang="en" sz="2600"/>
              <a:t> to Keycloak</a:t>
            </a:r>
            <a:endParaRPr sz="2600"/>
          </a:p>
        </p:txBody>
      </p:sp>
      <p:sp>
        <p:nvSpPr>
          <p:cNvPr id="55" name="Google Shape;55;p13"/>
          <p:cNvSpPr txBox="1"/>
          <p:nvPr>
            <p:ph idx="1" type="subTitle"/>
          </p:nvPr>
        </p:nvSpPr>
        <p:spPr>
          <a:xfrm>
            <a:off x="244500" y="3786300"/>
            <a:ext cx="8520600" cy="92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This is Nur Mohammad (soikat)</a:t>
            </a:r>
            <a:br>
              <a:rPr lang="en" sz="1600"/>
            </a:br>
            <a:r>
              <a:rPr lang="en" sz="1600"/>
              <a:t>Full Stack Developer</a:t>
            </a:r>
            <a:br>
              <a:rPr lang="en" sz="1600"/>
            </a:br>
            <a:r>
              <a:rPr lang="en" sz="1600"/>
              <a:t>BYSL E-Commerce</a:t>
            </a:r>
            <a:endParaRPr sz="1600"/>
          </a:p>
        </p:txBody>
      </p:sp>
      <p:pic>
        <p:nvPicPr>
          <p:cNvPr id="56" name="Google Shape;56;p13"/>
          <p:cNvPicPr preferRelativeResize="0"/>
          <p:nvPr/>
        </p:nvPicPr>
        <p:blipFill>
          <a:blip r:embed="rId3">
            <a:alphaModFix/>
          </a:blip>
          <a:stretch>
            <a:fillRect/>
          </a:stretch>
        </p:blipFill>
        <p:spPr>
          <a:xfrm>
            <a:off x="3609450" y="451700"/>
            <a:ext cx="1790700" cy="361950"/>
          </a:xfrm>
          <a:prstGeom prst="rect">
            <a:avLst/>
          </a:prstGeom>
          <a:noFill/>
          <a:ln>
            <a:noFill/>
          </a:ln>
        </p:spPr>
      </p:pic>
      <p:pic>
        <p:nvPicPr>
          <p:cNvPr id="57" name="Google Shape;57;p13"/>
          <p:cNvPicPr preferRelativeResize="0"/>
          <p:nvPr/>
        </p:nvPicPr>
        <p:blipFill>
          <a:blip r:embed="rId4">
            <a:alphaModFix/>
          </a:blip>
          <a:stretch>
            <a:fillRect/>
          </a:stretch>
        </p:blipFill>
        <p:spPr>
          <a:xfrm>
            <a:off x="150450" y="4790400"/>
            <a:ext cx="444050" cy="243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FFFFFF"/>
                </a:solidFill>
              </a:rPr>
              <a:t>Agenda</a:t>
            </a:r>
            <a:endParaRPr>
              <a:solidFill>
                <a:srgbClr val="FFFFFF"/>
              </a:solidFill>
            </a:endParaRPr>
          </a:p>
        </p:txBody>
      </p:sp>
      <p:sp>
        <p:nvSpPr>
          <p:cNvPr id="63" name="Google Shape;63;p14"/>
          <p:cNvSpPr txBox="1"/>
          <p:nvPr>
            <p:ph idx="1" type="body"/>
          </p:nvPr>
        </p:nvSpPr>
        <p:spPr>
          <a:xfrm>
            <a:off x="340850" y="1116050"/>
            <a:ext cx="8520600" cy="3597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What is keycloak?</a:t>
            </a:r>
            <a:endParaRPr sz="1600"/>
          </a:p>
          <a:p>
            <a:pPr indent="-330200" lvl="0" marL="457200" rtl="0" algn="l">
              <a:spcBef>
                <a:spcPts val="0"/>
              </a:spcBef>
              <a:spcAft>
                <a:spcPts val="0"/>
              </a:spcAft>
              <a:buSzPts val="1600"/>
              <a:buAutoNum type="arabicPeriod"/>
            </a:pPr>
            <a:r>
              <a:rPr lang="en" sz="1600"/>
              <a:t>Why we use keycloak?</a:t>
            </a:r>
            <a:endParaRPr sz="1200"/>
          </a:p>
          <a:p>
            <a:pPr indent="-330200" lvl="0" marL="457200" rtl="0" algn="l">
              <a:spcBef>
                <a:spcPts val="0"/>
              </a:spcBef>
              <a:spcAft>
                <a:spcPts val="0"/>
              </a:spcAft>
              <a:buSzPts val="1600"/>
              <a:buAutoNum type="arabicPeriod"/>
            </a:pPr>
            <a:r>
              <a:rPr lang="en" sz="1600"/>
              <a:t>How to install?</a:t>
            </a:r>
            <a:endParaRPr sz="1600"/>
          </a:p>
          <a:p>
            <a:pPr indent="-304800" lvl="1" marL="914400" rtl="0" algn="l">
              <a:spcBef>
                <a:spcPts val="0"/>
              </a:spcBef>
              <a:spcAft>
                <a:spcPts val="0"/>
              </a:spcAft>
              <a:buSzPts val="1200"/>
              <a:buAutoNum type="alphaLcPeriod"/>
            </a:pPr>
            <a:r>
              <a:rPr lang="en" sz="1200"/>
              <a:t>Docker</a:t>
            </a:r>
            <a:endParaRPr sz="1200"/>
          </a:p>
          <a:p>
            <a:pPr indent="-304800" lvl="1" marL="914400" rtl="0" algn="l">
              <a:spcBef>
                <a:spcPts val="0"/>
              </a:spcBef>
              <a:spcAft>
                <a:spcPts val="0"/>
              </a:spcAft>
              <a:buSzPts val="1200"/>
              <a:buAutoNum type="alphaLcPeriod"/>
            </a:pPr>
            <a:r>
              <a:rPr lang="en" sz="1200"/>
              <a:t>Open JDK</a:t>
            </a:r>
            <a:endParaRPr sz="1200"/>
          </a:p>
          <a:p>
            <a:pPr indent="-330200" lvl="0" marL="457200" rtl="0" algn="l">
              <a:spcBef>
                <a:spcPts val="0"/>
              </a:spcBef>
              <a:spcAft>
                <a:spcPts val="0"/>
              </a:spcAft>
              <a:buSzPts val="1600"/>
              <a:buAutoNum type="arabicPeriod"/>
            </a:pPr>
            <a:r>
              <a:rPr lang="en" sz="1600"/>
              <a:t>How it is work?</a:t>
            </a:r>
            <a:endParaRPr sz="1600"/>
          </a:p>
          <a:p>
            <a:pPr indent="-304800" lvl="1" marL="914400" rtl="0" algn="l">
              <a:spcBef>
                <a:spcPts val="0"/>
              </a:spcBef>
              <a:spcAft>
                <a:spcPts val="0"/>
              </a:spcAft>
              <a:buSzPts val="1200"/>
              <a:buAutoNum type="alphaLcPeriod"/>
            </a:pPr>
            <a:r>
              <a:rPr lang="en" sz="1200"/>
              <a:t>Keycloak workflow</a:t>
            </a:r>
            <a:endParaRPr sz="1200"/>
          </a:p>
          <a:p>
            <a:pPr indent="-304800" lvl="1" marL="914400" rtl="0" algn="l">
              <a:spcBef>
                <a:spcPts val="0"/>
              </a:spcBef>
              <a:spcAft>
                <a:spcPts val="0"/>
              </a:spcAft>
              <a:buSzPts val="1200"/>
              <a:buAutoNum type="alphaLcPeriod"/>
            </a:pPr>
            <a:r>
              <a:rPr lang="en" sz="1200"/>
              <a:t>Admin console overview</a:t>
            </a:r>
            <a:endParaRPr sz="1200"/>
          </a:p>
          <a:p>
            <a:pPr indent="-330200" lvl="0" marL="457200" rtl="0" algn="l">
              <a:spcBef>
                <a:spcPts val="0"/>
              </a:spcBef>
              <a:spcAft>
                <a:spcPts val="0"/>
              </a:spcAft>
              <a:buSzPts val="1600"/>
              <a:buAutoNum type="arabicPeriod"/>
            </a:pPr>
            <a:r>
              <a:rPr lang="en" sz="1600"/>
              <a:t>Pros &amp; Cons</a:t>
            </a:r>
            <a:endParaRPr sz="1600"/>
          </a:p>
          <a:p>
            <a:pPr indent="-330200" lvl="0" marL="457200" rtl="0" algn="l">
              <a:spcBef>
                <a:spcPts val="0"/>
              </a:spcBef>
              <a:spcAft>
                <a:spcPts val="0"/>
              </a:spcAft>
              <a:buSzPts val="1600"/>
              <a:buAutoNum type="arabicPeriod"/>
            </a:pPr>
            <a:r>
              <a:rPr lang="en" sz="1600"/>
              <a:t>Some problems and solution</a:t>
            </a:r>
            <a:r>
              <a:rPr lang="en" sz="1600"/>
              <a:t> </a:t>
            </a:r>
            <a:endParaRPr sz="1600"/>
          </a:p>
          <a:p>
            <a:pPr indent="-330200" lvl="0" marL="457200" rtl="0" algn="l">
              <a:spcBef>
                <a:spcPts val="0"/>
              </a:spcBef>
              <a:spcAft>
                <a:spcPts val="0"/>
              </a:spcAft>
              <a:buSzPts val="1600"/>
              <a:buAutoNum type="arabicPeriod"/>
            </a:pPr>
            <a:r>
              <a:rPr lang="en" sz="1600"/>
              <a:t>Reference </a:t>
            </a:r>
            <a:endParaRPr sz="1600"/>
          </a:p>
        </p:txBody>
      </p:sp>
      <p:pic>
        <p:nvPicPr>
          <p:cNvPr id="64" name="Google Shape;64;p14"/>
          <p:cNvPicPr preferRelativeResize="0"/>
          <p:nvPr/>
        </p:nvPicPr>
        <p:blipFill>
          <a:blip r:embed="rId3">
            <a:alphaModFix/>
          </a:blip>
          <a:stretch>
            <a:fillRect/>
          </a:stretch>
        </p:blipFill>
        <p:spPr>
          <a:xfrm>
            <a:off x="150450" y="4790400"/>
            <a:ext cx="444050" cy="243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Keycloak is an </a:t>
            </a:r>
            <a:r>
              <a:rPr b="1" lang="en"/>
              <a:t>open-source Identity and Access Management (IAM) solution</a:t>
            </a:r>
            <a:r>
              <a:rPr lang="en"/>
              <a:t> that allows you to add authentication and authorization to your applications and services.</a:t>
            </a:r>
            <a:br>
              <a:rPr lang="en"/>
            </a:br>
            <a:r>
              <a:rPr lang="en"/>
              <a:t>Keycloak is primarily written in Java </a:t>
            </a:r>
            <a:endParaRPr/>
          </a:p>
        </p:txBody>
      </p:sp>
      <p:pic>
        <p:nvPicPr>
          <p:cNvPr id="70" name="Google Shape;70;p15"/>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71" name="Google Shape;71;p15"/>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What is keycloak?</a:t>
            </a:r>
            <a:endParaRPr>
              <a:solidFill>
                <a:schemeClr val="lt1"/>
              </a:solidFill>
            </a:endParaRPr>
          </a:p>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311700" y="1152475"/>
            <a:ext cx="8520600" cy="5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Keycloak provides many features, including:</a:t>
            </a:r>
            <a:endParaRPr/>
          </a:p>
          <a:p>
            <a:pPr indent="0" lvl="0" marL="0" rtl="0" algn="l">
              <a:spcBef>
                <a:spcPts val="1200"/>
              </a:spcBef>
              <a:spcAft>
                <a:spcPts val="1200"/>
              </a:spcAft>
              <a:buNone/>
            </a:pPr>
            <a:r>
              <a:t/>
            </a:r>
            <a:endParaRPr/>
          </a:p>
        </p:txBody>
      </p:sp>
      <p:pic>
        <p:nvPicPr>
          <p:cNvPr id="77" name="Google Shape;77;p16"/>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78" name="Google Shape;78;p16"/>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Why we use keycloak</a:t>
            </a:r>
            <a:r>
              <a:rPr lang="en">
                <a:solidFill>
                  <a:schemeClr val="lt1"/>
                </a:solidFill>
              </a:rPr>
              <a:t>?</a:t>
            </a:r>
            <a:endParaRPr>
              <a:solidFill>
                <a:schemeClr val="lt1"/>
              </a:solidFill>
            </a:endParaRPr>
          </a:p>
          <a:p>
            <a:pPr indent="0" lvl="0" marL="0" rtl="0" algn="ctr">
              <a:spcBef>
                <a:spcPts val="0"/>
              </a:spcBef>
              <a:spcAft>
                <a:spcPts val="0"/>
              </a:spcAft>
              <a:buNone/>
            </a:pPr>
            <a:r>
              <a:t/>
            </a:r>
            <a:endParaRPr>
              <a:solidFill>
                <a:srgbClr val="FFFFFF"/>
              </a:solidFill>
            </a:endParaRPr>
          </a:p>
        </p:txBody>
      </p:sp>
      <p:sp>
        <p:nvSpPr>
          <p:cNvPr id="79" name="Google Shape;79;p16"/>
          <p:cNvSpPr/>
          <p:nvPr/>
        </p:nvSpPr>
        <p:spPr>
          <a:xfrm>
            <a:off x="420025" y="1780725"/>
            <a:ext cx="1896600" cy="75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Single-Sign On</a:t>
            </a:r>
            <a:endParaRPr/>
          </a:p>
          <a:p>
            <a:pPr indent="0" lvl="0" marL="0" rtl="0" algn="ctr">
              <a:spcBef>
                <a:spcPts val="0"/>
              </a:spcBef>
              <a:spcAft>
                <a:spcPts val="0"/>
              </a:spcAft>
              <a:buNone/>
            </a:pPr>
            <a:r>
              <a:rPr lang="en" sz="1000"/>
              <a:t>Login once to multiple applications</a:t>
            </a:r>
            <a:endParaRPr/>
          </a:p>
        </p:txBody>
      </p:sp>
      <p:sp>
        <p:nvSpPr>
          <p:cNvPr id="80" name="Google Shape;80;p16"/>
          <p:cNvSpPr/>
          <p:nvPr/>
        </p:nvSpPr>
        <p:spPr>
          <a:xfrm>
            <a:off x="6386175" y="1780725"/>
            <a:ext cx="2326500" cy="75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Social login </a:t>
            </a:r>
            <a:br>
              <a:rPr lang="en"/>
            </a:br>
            <a:r>
              <a:rPr lang="en" sz="1000"/>
              <a:t>Easily enable social login(Facebook, Google, GitHub, etc.)</a:t>
            </a:r>
            <a:endParaRPr sz="1000"/>
          </a:p>
        </p:txBody>
      </p:sp>
      <p:sp>
        <p:nvSpPr>
          <p:cNvPr id="81" name="Google Shape;81;p16"/>
          <p:cNvSpPr/>
          <p:nvPr/>
        </p:nvSpPr>
        <p:spPr>
          <a:xfrm>
            <a:off x="2896700" y="1780725"/>
            <a:ext cx="2909400" cy="75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Authorization and permission</a:t>
            </a:r>
            <a:br>
              <a:rPr lang="en"/>
            </a:br>
            <a:r>
              <a:rPr lang="en" sz="1000"/>
              <a:t>Easily</a:t>
            </a:r>
            <a:r>
              <a:rPr lang="en"/>
              <a:t> </a:t>
            </a:r>
            <a:r>
              <a:rPr lang="en" sz="1000"/>
              <a:t>management role. (Create role, </a:t>
            </a:r>
            <a:r>
              <a:rPr lang="en" sz="1000"/>
              <a:t>permission</a:t>
            </a:r>
            <a:r>
              <a:rPr lang="en" sz="1000"/>
              <a:t> and assign to user)</a:t>
            </a:r>
            <a:endParaRPr sz="1000"/>
          </a:p>
        </p:txBody>
      </p:sp>
      <p:sp>
        <p:nvSpPr>
          <p:cNvPr id="82" name="Google Shape;82;p16"/>
          <p:cNvSpPr/>
          <p:nvPr/>
        </p:nvSpPr>
        <p:spPr>
          <a:xfrm>
            <a:off x="2896700" y="3030175"/>
            <a:ext cx="2909400" cy="75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Admin Console </a:t>
            </a:r>
            <a:br>
              <a:rPr lang="en"/>
            </a:br>
            <a:r>
              <a:rPr lang="en" sz="1000"/>
              <a:t>For central management of users, roles, role mappings, clients and configuration.</a:t>
            </a:r>
            <a:endParaRPr sz="1000"/>
          </a:p>
        </p:txBody>
      </p:sp>
      <p:sp>
        <p:nvSpPr>
          <p:cNvPr id="83" name="Google Shape;83;p16"/>
          <p:cNvSpPr/>
          <p:nvPr/>
        </p:nvSpPr>
        <p:spPr>
          <a:xfrm>
            <a:off x="6386175" y="3030175"/>
            <a:ext cx="2326500" cy="75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Two-factor Authentication - </a:t>
            </a:r>
            <a:r>
              <a:rPr lang="en" sz="1000"/>
              <a:t>Support for TOTP/HOTP via Google Authenticator or FreeOTP.</a:t>
            </a:r>
            <a:endParaRPr sz="1000"/>
          </a:p>
        </p:txBody>
      </p:sp>
      <p:sp>
        <p:nvSpPr>
          <p:cNvPr id="84" name="Google Shape;84;p16"/>
          <p:cNvSpPr/>
          <p:nvPr/>
        </p:nvSpPr>
        <p:spPr>
          <a:xfrm>
            <a:off x="420025" y="3030175"/>
            <a:ext cx="1896600" cy="75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CORS Support</a:t>
            </a:r>
            <a:br>
              <a:rPr lang="en"/>
            </a:br>
            <a:r>
              <a:rPr lang="en"/>
              <a:t> </a:t>
            </a:r>
            <a:r>
              <a:rPr lang="en" sz="1000"/>
              <a:t>Client adapters have built-in support for CORS.</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90" name="Google Shape;90;p17"/>
          <p:cNvSpPr txBox="1"/>
          <p:nvPr>
            <p:ph type="title"/>
          </p:nvPr>
        </p:nvSpPr>
        <p:spPr>
          <a:xfrm>
            <a:off x="0" y="0"/>
            <a:ext cx="9144000" cy="794100"/>
          </a:xfrm>
          <a:prstGeom prst="rect">
            <a:avLst/>
          </a:prstGeom>
          <a:solidFill>
            <a:srgbClr val="428BCA"/>
          </a:solidFill>
          <a:ln>
            <a:noFill/>
          </a:ln>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How to install?</a:t>
            </a:r>
            <a:endParaRPr>
              <a:solidFill>
                <a:schemeClr val="lt1"/>
              </a:solidFill>
            </a:endParaRPr>
          </a:p>
          <a:p>
            <a:pPr indent="0" lvl="0" marL="0" rtl="0" algn="ctr">
              <a:spcBef>
                <a:spcPts val="0"/>
              </a:spcBef>
              <a:spcAft>
                <a:spcPts val="0"/>
              </a:spcAft>
              <a:buNone/>
            </a:pPr>
            <a:r>
              <a:rPr lang="en" sz="1550">
                <a:solidFill>
                  <a:srgbClr val="FFFFFF"/>
                </a:solidFill>
              </a:rPr>
              <a:t>(Using Docker)</a:t>
            </a:r>
            <a:endParaRPr sz="1550">
              <a:solidFill>
                <a:srgbClr val="FFFFFF"/>
              </a:solidFill>
            </a:endParaRPr>
          </a:p>
        </p:txBody>
      </p:sp>
      <p:sp>
        <p:nvSpPr>
          <p:cNvPr id="91" name="Google Shape;91;p17"/>
          <p:cNvSpPr txBox="1"/>
          <p:nvPr/>
        </p:nvSpPr>
        <p:spPr>
          <a:xfrm>
            <a:off x="225825" y="1041800"/>
            <a:ext cx="8465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Docker</a:t>
            </a:r>
            <a:br>
              <a:rPr b="1" lang="en"/>
            </a:br>
            <a:r>
              <a:rPr lang="en" sz="1000"/>
              <a:t>Get started with Keycloak on Docker</a:t>
            </a:r>
            <a:br>
              <a:rPr lang="en" sz="1000"/>
            </a:br>
            <a:br>
              <a:rPr lang="en"/>
            </a:br>
            <a:r>
              <a:rPr lang="en"/>
              <a:t>1. Install Docker</a:t>
            </a:r>
            <a:br>
              <a:rPr lang="en"/>
            </a:br>
            <a:r>
              <a:rPr lang="en"/>
              <a:t>2. Open Terminal and use this command</a:t>
            </a:r>
            <a:endParaRPr/>
          </a:p>
        </p:txBody>
      </p:sp>
      <p:sp>
        <p:nvSpPr>
          <p:cNvPr id="92" name="Google Shape;92;p17"/>
          <p:cNvSpPr txBox="1"/>
          <p:nvPr/>
        </p:nvSpPr>
        <p:spPr>
          <a:xfrm>
            <a:off x="979875" y="2253925"/>
            <a:ext cx="6957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docker run -p 8080:8080 -e KEYCLOAK_ADMIN=admin -e KEYCLOAK_ADMIN_PASSWORD=admin quay.io/keycloak/keycloak:21.0.1 start-dev</a:t>
            </a:r>
            <a:endParaRPr/>
          </a:p>
        </p:txBody>
      </p:sp>
      <p:sp>
        <p:nvSpPr>
          <p:cNvPr id="93" name="Google Shape;93;p17"/>
          <p:cNvSpPr txBox="1"/>
          <p:nvPr/>
        </p:nvSpPr>
        <p:spPr>
          <a:xfrm>
            <a:off x="480825" y="3118150"/>
            <a:ext cx="688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https://www.keycloak.org/getting-started/getting-started-docker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8"/>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99" name="Google Shape;99;p18"/>
          <p:cNvSpPr txBox="1"/>
          <p:nvPr>
            <p:ph type="title"/>
          </p:nvPr>
        </p:nvSpPr>
        <p:spPr>
          <a:xfrm>
            <a:off x="0" y="0"/>
            <a:ext cx="9144000" cy="794100"/>
          </a:xfrm>
          <a:prstGeom prst="rect">
            <a:avLst/>
          </a:prstGeom>
          <a:solidFill>
            <a:srgbClr val="428BCA"/>
          </a:solidFill>
          <a:ln>
            <a:noFill/>
          </a:ln>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How to install?</a:t>
            </a:r>
            <a:endParaRPr>
              <a:solidFill>
                <a:schemeClr val="lt1"/>
              </a:solidFill>
            </a:endParaRPr>
          </a:p>
          <a:p>
            <a:pPr indent="0" lvl="0" marL="0" rtl="0" algn="ctr">
              <a:spcBef>
                <a:spcPts val="0"/>
              </a:spcBef>
              <a:spcAft>
                <a:spcPts val="0"/>
              </a:spcAft>
              <a:buNone/>
            </a:pPr>
            <a:r>
              <a:rPr lang="en" sz="1550">
                <a:solidFill>
                  <a:srgbClr val="FFFFFF"/>
                </a:solidFill>
              </a:rPr>
              <a:t>(Using OpenJDK)</a:t>
            </a:r>
            <a:endParaRPr sz="1550">
              <a:solidFill>
                <a:srgbClr val="FFFFFF"/>
              </a:solidFill>
            </a:endParaRPr>
          </a:p>
        </p:txBody>
      </p:sp>
      <p:sp>
        <p:nvSpPr>
          <p:cNvPr id="100" name="Google Shape;100;p18"/>
          <p:cNvSpPr txBox="1"/>
          <p:nvPr/>
        </p:nvSpPr>
        <p:spPr>
          <a:xfrm>
            <a:off x="225825" y="1041800"/>
            <a:ext cx="8465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OpenJDK</a:t>
            </a:r>
            <a:br>
              <a:rPr b="1" lang="en">
                <a:solidFill>
                  <a:schemeClr val="dk1"/>
                </a:solidFill>
              </a:rPr>
            </a:br>
            <a:r>
              <a:rPr lang="en" sz="1000">
                <a:solidFill>
                  <a:schemeClr val="dk1"/>
                </a:solidFill>
              </a:rPr>
              <a:t>Get started with Keycloak on bare metal</a:t>
            </a:r>
            <a:endParaRPr/>
          </a:p>
        </p:txBody>
      </p:sp>
      <p:sp>
        <p:nvSpPr>
          <p:cNvPr id="101" name="Google Shape;101;p18"/>
          <p:cNvSpPr txBox="1"/>
          <p:nvPr/>
        </p:nvSpPr>
        <p:spPr>
          <a:xfrm>
            <a:off x="222800" y="1642550"/>
            <a:ext cx="6957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1. Make sure you have OpenJDK 11 or a higher version installed.</a:t>
            </a:r>
            <a:endParaRPr/>
          </a:p>
          <a:p>
            <a:pPr indent="0" lvl="0" marL="0" rtl="0" algn="l">
              <a:spcBef>
                <a:spcPts val="0"/>
              </a:spcBef>
              <a:spcAft>
                <a:spcPts val="0"/>
              </a:spcAft>
              <a:buClr>
                <a:schemeClr val="dk1"/>
              </a:buClr>
              <a:buSzPts val="1100"/>
              <a:buFont typeface="Arial"/>
              <a:buNone/>
            </a:pPr>
            <a:r>
              <a:rPr lang="en"/>
              <a:t>2. Download and extract keycloak-21.0.1.zip from the Keycloak website.</a:t>
            </a:r>
            <a:endParaRPr/>
          </a:p>
          <a:p>
            <a:pPr indent="0" lvl="0" marL="0" rtl="0" algn="l">
              <a:spcBef>
                <a:spcPts val="0"/>
              </a:spcBef>
              <a:spcAft>
                <a:spcPts val="0"/>
              </a:spcAft>
              <a:buClr>
                <a:schemeClr val="dk1"/>
              </a:buClr>
              <a:buSzPts val="1100"/>
              <a:buFont typeface="Arial"/>
              <a:buNone/>
            </a:pPr>
            <a:r>
              <a:rPr lang="en"/>
              <a:t>3. Open terminal </a:t>
            </a:r>
            <a:endParaRPr/>
          </a:p>
          <a:p>
            <a:pPr indent="0" lvl="0" marL="0" rtl="0" algn="l">
              <a:spcBef>
                <a:spcPts val="0"/>
              </a:spcBef>
              <a:spcAft>
                <a:spcPts val="0"/>
              </a:spcAft>
              <a:buClr>
                <a:schemeClr val="dk1"/>
              </a:buClr>
              <a:buSzPts val="1100"/>
              <a:buFont typeface="Arial"/>
              <a:buNone/>
            </a:pPr>
            <a:r>
              <a:rPr lang="en"/>
              <a:t>	/bin/kc.sh start-dev</a:t>
            </a:r>
            <a:endParaRPr/>
          </a:p>
          <a:p>
            <a:pPr indent="0" lvl="0" marL="0" rtl="0" algn="l">
              <a:spcBef>
                <a:spcPts val="0"/>
              </a:spcBef>
              <a:spcAft>
                <a:spcPts val="0"/>
              </a:spcAft>
              <a:buNone/>
            </a:pPr>
            <a:r>
              <a:t/>
            </a:r>
            <a:endParaRPr/>
          </a:p>
        </p:txBody>
      </p:sp>
      <p:sp>
        <p:nvSpPr>
          <p:cNvPr id="102" name="Google Shape;102;p18"/>
          <p:cNvSpPr txBox="1"/>
          <p:nvPr/>
        </p:nvSpPr>
        <p:spPr>
          <a:xfrm>
            <a:off x="480825" y="3118150"/>
            <a:ext cx="688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https://www.keycloak.org/getting-started/getting-started-zip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9"/>
          <p:cNvPicPr preferRelativeResize="0"/>
          <p:nvPr/>
        </p:nvPicPr>
        <p:blipFill rotWithShape="1">
          <a:blip r:embed="rId3">
            <a:alphaModFix/>
          </a:blip>
          <a:srcRect b="15743" l="1987" r="1997" t="2596"/>
          <a:stretch/>
        </p:blipFill>
        <p:spPr>
          <a:xfrm>
            <a:off x="0" y="0"/>
            <a:ext cx="9144000"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0"/>
          <p:cNvPicPr preferRelativeResize="0"/>
          <p:nvPr/>
        </p:nvPicPr>
        <p:blipFill>
          <a:blip r:embed="rId3">
            <a:alphaModFix/>
          </a:blip>
          <a:stretch>
            <a:fillRect/>
          </a:stretch>
        </p:blipFill>
        <p:spPr>
          <a:xfrm>
            <a:off x="152400" y="152400"/>
            <a:ext cx="8839199" cy="41622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1"/>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118" name="Google Shape;118;p21"/>
          <p:cNvSpPr txBox="1"/>
          <p:nvPr>
            <p:ph type="title"/>
          </p:nvPr>
        </p:nvSpPr>
        <p:spPr>
          <a:xfrm>
            <a:off x="0" y="0"/>
            <a:ext cx="9144000" cy="794100"/>
          </a:xfrm>
          <a:prstGeom prst="rect">
            <a:avLst/>
          </a:prstGeom>
          <a:solidFill>
            <a:srgbClr val="428BCA"/>
          </a:solidFill>
          <a:ln>
            <a:noFill/>
          </a:ln>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How it is work</a:t>
            </a:r>
            <a:r>
              <a:rPr lang="en">
                <a:solidFill>
                  <a:schemeClr val="lt1"/>
                </a:solidFill>
              </a:rPr>
              <a:t>?</a:t>
            </a:r>
            <a:endParaRPr>
              <a:solidFill>
                <a:schemeClr val="lt1"/>
              </a:solidFill>
            </a:endParaRPr>
          </a:p>
          <a:p>
            <a:pPr indent="0" lvl="0" marL="0" rtl="0" algn="ctr">
              <a:spcBef>
                <a:spcPts val="0"/>
              </a:spcBef>
              <a:spcAft>
                <a:spcPts val="0"/>
              </a:spcAft>
              <a:buNone/>
            </a:pPr>
            <a:r>
              <a:rPr lang="en" sz="1550">
                <a:solidFill>
                  <a:srgbClr val="FFFFFF"/>
                </a:solidFill>
              </a:rPr>
              <a:t>(Keycloak workflow)</a:t>
            </a:r>
            <a:endParaRPr sz="1550">
              <a:solidFill>
                <a:srgbClr val="FFFFFF"/>
              </a:solidFill>
            </a:endParaRPr>
          </a:p>
        </p:txBody>
      </p:sp>
      <p:grpSp>
        <p:nvGrpSpPr>
          <p:cNvPr id="119" name="Google Shape;119;p21"/>
          <p:cNvGrpSpPr/>
          <p:nvPr/>
        </p:nvGrpSpPr>
        <p:grpSpPr>
          <a:xfrm>
            <a:off x="695134" y="1132375"/>
            <a:ext cx="7676041" cy="3642325"/>
            <a:chOff x="695134" y="903775"/>
            <a:chExt cx="7676041" cy="3642325"/>
          </a:xfrm>
        </p:grpSpPr>
        <p:grpSp>
          <p:nvGrpSpPr>
            <p:cNvPr id="120" name="Google Shape;120;p21"/>
            <p:cNvGrpSpPr/>
            <p:nvPr/>
          </p:nvGrpSpPr>
          <p:grpSpPr>
            <a:xfrm>
              <a:off x="1337600" y="903775"/>
              <a:ext cx="5626650" cy="3642325"/>
              <a:chOff x="594500" y="925625"/>
              <a:chExt cx="5626650" cy="3642325"/>
            </a:xfrm>
          </p:grpSpPr>
          <p:grpSp>
            <p:nvGrpSpPr>
              <p:cNvPr id="121" name="Google Shape;121;p21"/>
              <p:cNvGrpSpPr/>
              <p:nvPr/>
            </p:nvGrpSpPr>
            <p:grpSpPr>
              <a:xfrm>
                <a:off x="594500" y="925625"/>
                <a:ext cx="867000" cy="3642325"/>
                <a:chOff x="594500" y="925625"/>
                <a:chExt cx="867000" cy="3642325"/>
              </a:xfrm>
            </p:grpSpPr>
            <p:sp>
              <p:nvSpPr>
                <p:cNvPr id="122" name="Google Shape;122;p21"/>
                <p:cNvSpPr/>
                <p:nvPr/>
              </p:nvSpPr>
              <p:spPr>
                <a:xfrm>
                  <a:off x="594500" y="925625"/>
                  <a:ext cx="867000" cy="45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a:t>
                  </a:r>
                  <a:endParaRPr/>
                </a:p>
              </p:txBody>
            </p:sp>
            <p:cxnSp>
              <p:nvCxnSpPr>
                <p:cNvPr id="123" name="Google Shape;123;p21"/>
                <p:cNvCxnSpPr/>
                <p:nvPr/>
              </p:nvCxnSpPr>
              <p:spPr>
                <a:xfrm>
                  <a:off x="1028000" y="1389750"/>
                  <a:ext cx="0" cy="3178200"/>
                </a:xfrm>
                <a:prstGeom prst="straightConnector1">
                  <a:avLst/>
                </a:prstGeom>
                <a:noFill/>
                <a:ln cap="flat" cmpd="sng" w="9525">
                  <a:solidFill>
                    <a:schemeClr val="dk2"/>
                  </a:solidFill>
                  <a:prstDash val="solid"/>
                  <a:round/>
                  <a:headEnd len="med" w="med" type="none"/>
                  <a:tailEnd len="med" w="med" type="none"/>
                </a:ln>
              </p:spPr>
            </p:cxnSp>
          </p:grpSp>
          <p:grpSp>
            <p:nvGrpSpPr>
              <p:cNvPr id="124" name="Google Shape;124;p21"/>
              <p:cNvGrpSpPr/>
              <p:nvPr/>
            </p:nvGrpSpPr>
            <p:grpSpPr>
              <a:xfrm>
                <a:off x="2763125" y="925625"/>
                <a:ext cx="1078200" cy="3642325"/>
                <a:chOff x="2763125" y="925625"/>
                <a:chExt cx="1078200" cy="3642325"/>
              </a:xfrm>
            </p:grpSpPr>
            <p:sp>
              <p:nvSpPr>
                <p:cNvPr id="125" name="Google Shape;125;p21"/>
                <p:cNvSpPr/>
                <p:nvPr/>
              </p:nvSpPr>
              <p:spPr>
                <a:xfrm>
                  <a:off x="2763125" y="925625"/>
                  <a:ext cx="1078200" cy="45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cxnSp>
              <p:nvCxnSpPr>
                <p:cNvPr id="126" name="Google Shape;126;p21"/>
                <p:cNvCxnSpPr/>
                <p:nvPr/>
              </p:nvCxnSpPr>
              <p:spPr>
                <a:xfrm>
                  <a:off x="3302225" y="1389750"/>
                  <a:ext cx="0" cy="3178200"/>
                </a:xfrm>
                <a:prstGeom prst="straightConnector1">
                  <a:avLst/>
                </a:prstGeom>
                <a:noFill/>
                <a:ln cap="flat" cmpd="sng" w="9525">
                  <a:solidFill>
                    <a:schemeClr val="dk2"/>
                  </a:solidFill>
                  <a:prstDash val="solid"/>
                  <a:round/>
                  <a:headEnd len="med" w="med" type="none"/>
                  <a:tailEnd len="med" w="med" type="none"/>
                </a:ln>
              </p:spPr>
            </p:cxnSp>
          </p:grpSp>
          <p:grpSp>
            <p:nvGrpSpPr>
              <p:cNvPr id="127" name="Google Shape;127;p21"/>
              <p:cNvGrpSpPr/>
              <p:nvPr/>
            </p:nvGrpSpPr>
            <p:grpSpPr>
              <a:xfrm>
                <a:off x="5142950" y="925625"/>
                <a:ext cx="1078200" cy="3635100"/>
                <a:chOff x="5142950" y="925625"/>
                <a:chExt cx="1078200" cy="3635100"/>
              </a:xfrm>
            </p:grpSpPr>
            <p:sp>
              <p:nvSpPr>
                <p:cNvPr id="128" name="Google Shape;128;p21"/>
                <p:cNvSpPr/>
                <p:nvPr/>
              </p:nvSpPr>
              <p:spPr>
                <a:xfrm>
                  <a:off x="5142950" y="925625"/>
                  <a:ext cx="1078200" cy="45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Keycloak</a:t>
                  </a:r>
                  <a:endParaRPr/>
                </a:p>
              </p:txBody>
            </p:sp>
            <p:cxnSp>
              <p:nvCxnSpPr>
                <p:cNvPr id="129" name="Google Shape;129;p21"/>
                <p:cNvCxnSpPr>
                  <a:stCxn id="128" idx="2"/>
                </p:cNvCxnSpPr>
                <p:nvPr/>
              </p:nvCxnSpPr>
              <p:spPr>
                <a:xfrm>
                  <a:off x="5682050" y="1384625"/>
                  <a:ext cx="0" cy="3176100"/>
                </a:xfrm>
                <a:prstGeom prst="straightConnector1">
                  <a:avLst/>
                </a:prstGeom>
                <a:noFill/>
                <a:ln cap="flat" cmpd="sng" w="9525">
                  <a:solidFill>
                    <a:schemeClr val="dk2"/>
                  </a:solidFill>
                  <a:prstDash val="solid"/>
                  <a:round/>
                  <a:headEnd len="med" w="med" type="none"/>
                  <a:tailEnd len="med" w="med" type="none"/>
                </a:ln>
              </p:spPr>
            </p:cxnSp>
          </p:grpSp>
        </p:grpSp>
        <p:grpSp>
          <p:nvGrpSpPr>
            <p:cNvPr id="130" name="Google Shape;130;p21"/>
            <p:cNvGrpSpPr/>
            <p:nvPr/>
          </p:nvGrpSpPr>
          <p:grpSpPr>
            <a:xfrm>
              <a:off x="1781965" y="1481275"/>
              <a:ext cx="4655246" cy="474650"/>
              <a:chOff x="1027250" y="1481275"/>
              <a:chExt cx="4655246" cy="474650"/>
            </a:xfrm>
          </p:grpSpPr>
          <p:cxnSp>
            <p:nvCxnSpPr>
              <p:cNvPr id="131" name="Google Shape;131;p21"/>
              <p:cNvCxnSpPr/>
              <p:nvPr/>
            </p:nvCxnSpPr>
            <p:spPr>
              <a:xfrm>
                <a:off x="1027250" y="1857700"/>
                <a:ext cx="2280300" cy="0"/>
              </a:xfrm>
              <a:prstGeom prst="straightConnector1">
                <a:avLst/>
              </a:prstGeom>
              <a:noFill/>
              <a:ln cap="flat" cmpd="sng" w="9525">
                <a:solidFill>
                  <a:schemeClr val="dk2"/>
                </a:solidFill>
                <a:prstDash val="solid"/>
                <a:round/>
                <a:headEnd len="med" w="med" type="none"/>
                <a:tailEnd len="med" w="med" type="triangle"/>
              </a:ln>
            </p:spPr>
          </p:cxnSp>
          <p:sp>
            <p:nvSpPr>
              <p:cNvPr id="132" name="Google Shape;132;p21"/>
              <p:cNvSpPr txBox="1"/>
              <p:nvPr/>
            </p:nvSpPr>
            <p:spPr>
              <a:xfrm>
                <a:off x="1158550" y="1481275"/>
                <a:ext cx="1959900" cy="3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User enter url of an application</a:t>
                </a:r>
                <a:endParaRPr sz="1000"/>
              </a:p>
            </p:txBody>
          </p:sp>
          <p:cxnSp>
            <p:nvCxnSpPr>
              <p:cNvPr id="133" name="Google Shape;133;p21"/>
              <p:cNvCxnSpPr/>
              <p:nvPr/>
            </p:nvCxnSpPr>
            <p:spPr>
              <a:xfrm>
                <a:off x="3296296" y="1955925"/>
                <a:ext cx="2386200" cy="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21"/>
              <p:cNvSpPr txBox="1"/>
              <p:nvPr/>
            </p:nvSpPr>
            <p:spPr>
              <a:xfrm>
                <a:off x="3354850" y="1531550"/>
                <a:ext cx="2258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Application redirect to keycloak</a:t>
                </a:r>
                <a:endParaRPr sz="1000"/>
              </a:p>
            </p:txBody>
          </p:sp>
        </p:grpSp>
        <p:sp>
          <p:nvSpPr>
            <p:cNvPr id="135" name="Google Shape;135;p21"/>
            <p:cNvSpPr/>
            <p:nvPr/>
          </p:nvSpPr>
          <p:spPr>
            <a:xfrm>
              <a:off x="6600575" y="2481800"/>
              <a:ext cx="1770600" cy="111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 Keycloak uses the OpenID Connect (OIDC) protocol to authenticate a user.</a:t>
              </a:r>
              <a:endParaRPr sz="1000"/>
            </a:p>
            <a:p>
              <a:pPr indent="0" lvl="0" marL="0" rtl="0" algn="l">
                <a:spcBef>
                  <a:spcPts val="0"/>
                </a:spcBef>
                <a:spcAft>
                  <a:spcPts val="0"/>
                </a:spcAft>
                <a:buNone/>
              </a:pPr>
              <a:br>
                <a:rPr lang="en" sz="800"/>
              </a:br>
              <a:r>
                <a:rPr lang="en" sz="800"/>
                <a:t>(OpenID Connect builds on top of OAuth 2.0 to add an authentication layer.)</a:t>
              </a:r>
              <a:endParaRPr sz="1000"/>
            </a:p>
          </p:txBody>
        </p:sp>
        <p:grpSp>
          <p:nvGrpSpPr>
            <p:cNvPr id="136" name="Google Shape;136;p21"/>
            <p:cNvGrpSpPr/>
            <p:nvPr/>
          </p:nvGrpSpPr>
          <p:grpSpPr>
            <a:xfrm>
              <a:off x="695134" y="2049513"/>
              <a:ext cx="5752312" cy="1135838"/>
              <a:chOff x="695134" y="2049513"/>
              <a:chExt cx="5752312" cy="1135838"/>
            </a:xfrm>
          </p:grpSpPr>
          <p:cxnSp>
            <p:nvCxnSpPr>
              <p:cNvPr id="137" name="Google Shape;137;p21"/>
              <p:cNvCxnSpPr/>
              <p:nvPr/>
            </p:nvCxnSpPr>
            <p:spPr>
              <a:xfrm rot="10800000">
                <a:off x="1781888" y="2481788"/>
                <a:ext cx="4655400" cy="0"/>
              </a:xfrm>
              <a:prstGeom prst="straightConnector1">
                <a:avLst/>
              </a:prstGeom>
              <a:noFill/>
              <a:ln cap="flat" cmpd="sng" w="19050">
                <a:solidFill>
                  <a:schemeClr val="dk2"/>
                </a:solidFill>
                <a:prstDash val="solid"/>
                <a:round/>
                <a:headEnd len="med" w="med" type="none"/>
                <a:tailEnd len="med" w="med" type="triangle"/>
              </a:ln>
            </p:spPr>
          </p:cxnSp>
          <p:sp>
            <p:nvSpPr>
              <p:cNvPr id="138" name="Google Shape;138;p21"/>
              <p:cNvSpPr txBox="1"/>
              <p:nvPr/>
            </p:nvSpPr>
            <p:spPr>
              <a:xfrm>
                <a:off x="2451675" y="2049513"/>
                <a:ext cx="88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Login page</a:t>
                </a:r>
                <a:endParaRPr sz="1000"/>
              </a:p>
            </p:txBody>
          </p:sp>
          <p:cxnSp>
            <p:nvCxnSpPr>
              <p:cNvPr id="139" name="Google Shape;139;p21"/>
              <p:cNvCxnSpPr/>
              <p:nvPr/>
            </p:nvCxnSpPr>
            <p:spPr>
              <a:xfrm>
                <a:off x="1756346" y="3185350"/>
                <a:ext cx="4691100" cy="0"/>
              </a:xfrm>
              <a:prstGeom prst="straightConnector1">
                <a:avLst/>
              </a:prstGeom>
              <a:noFill/>
              <a:ln cap="flat" cmpd="sng" w="19050">
                <a:solidFill>
                  <a:schemeClr val="dk2"/>
                </a:solidFill>
                <a:prstDash val="solid"/>
                <a:round/>
                <a:headEnd len="med" w="med" type="none"/>
                <a:tailEnd len="med" w="med" type="triangle"/>
              </a:ln>
            </p:spPr>
          </p:cxnSp>
          <p:sp>
            <p:nvSpPr>
              <p:cNvPr id="140" name="Google Shape;140;p21"/>
              <p:cNvSpPr txBox="1"/>
              <p:nvPr/>
            </p:nvSpPr>
            <p:spPr>
              <a:xfrm>
                <a:off x="2265750" y="2733825"/>
                <a:ext cx="1409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User gives credential</a:t>
                </a:r>
                <a:endParaRPr sz="1000"/>
              </a:p>
            </p:txBody>
          </p:sp>
          <p:pic>
            <p:nvPicPr>
              <p:cNvPr id="141" name="Google Shape;141;p21"/>
              <p:cNvPicPr preferRelativeResize="0"/>
              <p:nvPr/>
            </p:nvPicPr>
            <p:blipFill>
              <a:blip r:embed="rId4">
                <a:alphaModFix/>
              </a:blip>
              <a:stretch>
                <a:fillRect/>
              </a:stretch>
            </p:blipFill>
            <p:spPr>
              <a:xfrm>
                <a:off x="695134" y="2053238"/>
                <a:ext cx="964266" cy="857125"/>
              </a:xfrm>
              <a:prstGeom prst="rect">
                <a:avLst/>
              </a:prstGeom>
              <a:noFill/>
              <a:ln>
                <a:noFill/>
              </a:ln>
            </p:spPr>
          </p:pic>
        </p:grpSp>
        <p:grpSp>
          <p:nvGrpSpPr>
            <p:cNvPr id="142" name="Google Shape;142;p21"/>
            <p:cNvGrpSpPr/>
            <p:nvPr/>
          </p:nvGrpSpPr>
          <p:grpSpPr>
            <a:xfrm>
              <a:off x="1769050" y="3414400"/>
              <a:ext cx="4649400" cy="969575"/>
              <a:chOff x="1769050" y="3414400"/>
              <a:chExt cx="4649400" cy="969575"/>
            </a:xfrm>
          </p:grpSpPr>
          <p:sp>
            <p:nvSpPr>
              <p:cNvPr id="143" name="Google Shape;143;p21"/>
              <p:cNvSpPr txBox="1"/>
              <p:nvPr/>
            </p:nvSpPr>
            <p:spPr>
              <a:xfrm>
                <a:off x="4199750" y="3414400"/>
                <a:ext cx="2193000" cy="3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6AA84F"/>
                    </a:solidFill>
                  </a:rPr>
                  <a:t>If valid </a:t>
                </a:r>
                <a:r>
                  <a:rPr lang="en" sz="1000">
                    <a:solidFill>
                      <a:srgbClr val="6AA84F"/>
                    </a:solidFill>
                  </a:rPr>
                  <a:t>redirect to application</a:t>
                </a:r>
                <a:endParaRPr sz="1000">
                  <a:solidFill>
                    <a:srgbClr val="6AA84F"/>
                  </a:solidFill>
                </a:endParaRPr>
              </a:p>
            </p:txBody>
          </p:sp>
          <p:sp>
            <p:nvSpPr>
              <p:cNvPr id="144" name="Google Shape;144;p21"/>
              <p:cNvSpPr txBox="1"/>
              <p:nvPr/>
            </p:nvSpPr>
            <p:spPr>
              <a:xfrm>
                <a:off x="4199750" y="4015783"/>
                <a:ext cx="801900" cy="3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If invalid</a:t>
                </a:r>
                <a:br>
                  <a:rPr lang="en" sz="1000"/>
                </a:br>
                <a:endParaRPr sz="1000"/>
              </a:p>
            </p:txBody>
          </p:sp>
          <p:cxnSp>
            <p:nvCxnSpPr>
              <p:cNvPr id="145" name="Google Shape;145;p21"/>
              <p:cNvCxnSpPr/>
              <p:nvPr/>
            </p:nvCxnSpPr>
            <p:spPr>
              <a:xfrm rot="10800000">
                <a:off x="1769050" y="4383975"/>
                <a:ext cx="4649400" cy="0"/>
              </a:xfrm>
              <a:prstGeom prst="straightConnector1">
                <a:avLst/>
              </a:prstGeom>
              <a:noFill/>
              <a:ln cap="flat" cmpd="sng" w="9525">
                <a:solidFill>
                  <a:schemeClr val="dk2"/>
                </a:solidFill>
                <a:prstDash val="solid"/>
                <a:round/>
                <a:headEnd len="med" w="med" type="none"/>
                <a:tailEnd len="med" w="med" type="triangle"/>
              </a:ln>
            </p:spPr>
          </p:cxnSp>
          <p:sp>
            <p:nvSpPr>
              <p:cNvPr id="146" name="Google Shape;146;p21"/>
              <p:cNvSpPr/>
              <p:nvPr/>
            </p:nvSpPr>
            <p:spPr>
              <a:xfrm>
                <a:off x="2058075" y="3943425"/>
                <a:ext cx="1275000" cy="307200"/>
              </a:xfrm>
              <a:prstGeom prst="wedgeRectCallout">
                <a:avLst>
                  <a:gd fmla="val -21139" name="adj1"/>
                  <a:gd fmla="val 8215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rPr>
                  <a:t>“Invalid Credential”</a:t>
                </a:r>
                <a:endParaRPr sz="1000"/>
              </a:p>
            </p:txBody>
          </p:sp>
          <p:cxnSp>
            <p:nvCxnSpPr>
              <p:cNvPr id="147" name="Google Shape;147;p21"/>
              <p:cNvCxnSpPr/>
              <p:nvPr/>
            </p:nvCxnSpPr>
            <p:spPr>
              <a:xfrm rot="10800000">
                <a:off x="4087146" y="3820900"/>
                <a:ext cx="2331300" cy="0"/>
              </a:xfrm>
              <a:prstGeom prst="straightConnector1">
                <a:avLst/>
              </a:prstGeom>
              <a:noFill/>
              <a:ln cap="flat" cmpd="sng" w="9525">
                <a:solidFill>
                  <a:srgbClr val="6AA84F"/>
                </a:solidFill>
                <a:prstDash val="solid"/>
                <a:round/>
                <a:headEnd len="med" w="med" type="none"/>
                <a:tailEnd len="med" w="med" type="triangle"/>
              </a:ln>
            </p:spPr>
          </p:cxn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2"/>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153" name="Google Shape;153;p22"/>
          <p:cNvSpPr txBox="1"/>
          <p:nvPr>
            <p:ph type="title"/>
          </p:nvPr>
        </p:nvSpPr>
        <p:spPr>
          <a:xfrm>
            <a:off x="0" y="0"/>
            <a:ext cx="9144000" cy="794100"/>
          </a:xfrm>
          <a:prstGeom prst="rect">
            <a:avLst/>
          </a:prstGeom>
          <a:solidFill>
            <a:srgbClr val="428BCA"/>
          </a:solidFill>
          <a:ln>
            <a:noFill/>
          </a:ln>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How it is work?</a:t>
            </a:r>
            <a:endParaRPr>
              <a:solidFill>
                <a:schemeClr val="lt1"/>
              </a:solidFill>
            </a:endParaRPr>
          </a:p>
          <a:p>
            <a:pPr indent="0" lvl="0" marL="0" rtl="0" algn="ctr">
              <a:spcBef>
                <a:spcPts val="0"/>
              </a:spcBef>
              <a:spcAft>
                <a:spcPts val="0"/>
              </a:spcAft>
              <a:buNone/>
            </a:pPr>
            <a:r>
              <a:rPr lang="en" sz="1550">
                <a:solidFill>
                  <a:srgbClr val="FFFFFF"/>
                </a:solidFill>
              </a:rPr>
              <a:t>(</a:t>
            </a:r>
            <a:r>
              <a:rPr lang="en" sz="1550">
                <a:solidFill>
                  <a:srgbClr val="FFFFFF"/>
                </a:solidFill>
              </a:rPr>
              <a:t>Admin console overview</a:t>
            </a:r>
            <a:r>
              <a:rPr lang="en" sz="1550">
                <a:solidFill>
                  <a:srgbClr val="FFFFFF"/>
                </a:solidFill>
              </a:rPr>
              <a:t>)</a:t>
            </a:r>
            <a:endParaRPr sz="1550">
              <a:solidFill>
                <a:srgbClr val="FFFFFF"/>
              </a:solidFill>
            </a:endParaRPr>
          </a:p>
        </p:txBody>
      </p:sp>
      <p:sp>
        <p:nvSpPr>
          <p:cNvPr id="154" name="Google Shape;154;p22"/>
          <p:cNvSpPr/>
          <p:nvPr/>
        </p:nvSpPr>
        <p:spPr>
          <a:xfrm>
            <a:off x="429850" y="1128650"/>
            <a:ext cx="8327100" cy="96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Realms</a:t>
            </a:r>
            <a:br>
              <a:rPr lang="en"/>
            </a:br>
            <a:r>
              <a:rPr lang="en" sz="1200">
                <a:solidFill>
                  <a:srgbClr val="434343"/>
                </a:solidFill>
              </a:rPr>
              <a:t>In Keycloak, a realm is a logical container for a set of users, groups, and applications, along with the corresponding authentication and authorization settings.</a:t>
            </a:r>
            <a:endParaRPr sz="1200">
              <a:solidFill>
                <a:srgbClr val="434343"/>
              </a:solidFill>
            </a:endParaRPr>
          </a:p>
        </p:txBody>
      </p:sp>
      <p:sp>
        <p:nvSpPr>
          <p:cNvPr id="155" name="Google Shape;155;p22"/>
          <p:cNvSpPr/>
          <p:nvPr/>
        </p:nvSpPr>
        <p:spPr>
          <a:xfrm>
            <a:off x="692050" y="2516513"/>
            <a:ext cx="7802700" cy="96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Client</a:t>
            </a:r>
            <a:br>
              <a:rPr lang="en"/>
            </a:br>
            <a:r>
              <a:rPr lang="en" sz="1200">
                <a:solidFill>
                  <a:srgbClr val="434343"/>
                </a:solidFill>
              </a:rPr>
              <a:t>In Keycloak, a client is a representation of an application or service.Each client in Keycloak has its own set of configuration settings (Client ID,Redirect URIs, Web Origins, Client Secret)</a:t>
            </a:r>
            <a:endParaRPr sz="1200">
              <a:solidFill>
                <a:srgbClr val="434343"/>
              </a:solidFill>
            </a:endParaRPr>
          </a:p>
        </p:txBody>
      </p:sp>
      <p:grpSp>
        <p:nvGrpSpPr>
          <p:cNvPr id="156" name="Google Shape;156;p22"/>
          <p:cNvGrpSpPr/>
          <p:nvPr/>
        </p:nvGrpSpPr>
        <p:grpSpPr>
          <a:xfrm>
            <a:off x="1052538" y="4056775"/>
            <a:ext cx="7081725" cy="429900"/>
            <a:chOff x="1121825" y="3751975"/>
            <a:chExt cx="7081725" cy="429900"/>
          </a:xfrm>
        </p:grpSpPr>
        <p:sp>
          <p:nvSpPr>
            <p:cNvPr id="157" name="Google Shape;157;p22"/>
            <p:cNvSpPr/>
            <p:nvPr/>
          </p:nvSpPr>
          <p:spPr>
            <a:xfrm>
              <a:off x="3042800" y="3751975"/>
              <a:ext cx="1318800" cy="42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 2</a:t>
              </a:r>
              <a:endParaRPr/>
            </a:p>
          </p:txBody>
        </p:sp>
        <p:sp>
          <p:nvSpPr>
            <p:cNvPr id="158" name="Google Shape;158;p22"/>
            <p:cNvSpPr/>
            <p:nvPr/>
          </p:nvSpPr>
          <p:spPr>
            <a:xfrm>
              <a:off x="1121825" y="3751975"/>
              <a:ext cx="1318800" cy="42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 1</a:t>
              </a:r>
              <a:endParaRPr/>
            </a:p>
          </p:txBody>
        </p:sp>
        <p:sp>
          <p:nvSpPr>
            <p:cNvPr id="159" name="Google Shape;159;p22"/>
            <p:cNvSpPr/>
            <p:nvPr/>
          </p:nvSpPr>
          <p:spPr>
            <a:xfrm>
              <a:off x="6884750" y="3751975"/>
              <a:ext cx="1318800" cy="42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 4</a:t>
              </a:r>
              <a:endParaRPr/>
            </a:p>
          </p:txBody>
        </p:sp>
        <p:sp>
          <p:nvSpPr>
            <p:cNvPr id="160" name="Google Shape;160;p22"/>
            <p:cNvSpPr/>
            <p:nvPr/>
          </p:nvSpPr>
          <p:spPr>
            <a:xfrm>
              <a:off x="4963775" y="3751975"/>
              <a:ext cx="1318800" cy="42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 3</a:t>
              </a:r>
              <a:endParaRPr/>
            </a:p>
          </p:txBody>
        </p:sp>
      </p:grpSp>
      <p:sp>
        <p:nvSpPr>
          <p:cNvPr id="161" name="Google Shape;161;p22"/>
          <p:cNvSpPr/>
          <p:nvPr/>
        </p:nvSpPr>
        <p:spPr>
          <a:xfrm>
            <a:off x="4834179" y="3904400"/>
            <a:ext cx="3395100" cy="707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2"/>
          <p:cNvSpPr txBox="1"/>
          <p:nvPr/>
        </p:nvSpPr>
        <p:spPr>
          <a:xfrm>
            <a:off x="6199900" y="3606300"/>
            <a:ext cx="75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Group</a:t>
            </a:r>
            <a:endParaRPr/>
          </a:p>
        </p:txBody>
      </p:sp>
      <p:cxnSp>
        <p:nvCxnSpPr>
          <p:cNvPr id="163" name="Google Shape;163;p22"/>
          <p:cNvCxnSpPr>
            <a:stCxn id="154" idx="2"/>
            <a:endCxn id="155" idx="0"/>
          </p:cNvCxnSpPr>
          <p:nvPr/>
        </p:nvCxnSpPr>
        <p:spPr>
          <a:xfrm>
            <a:off x="4593400" y="2097650"/>
            <a:ext cx="0" cy="418800"/>
          </a:xfrm>
          <a:prstGeom prst="straightConnector1">
            <a:avLst/>
          </a:prstGeom>
          <a:noFill/>
          <a:ln cap="flat" cmpd="sng" w="9525">
            <a:solidFill>
              <a:schemeClr val="dk2"/>
            </a:solidFill>
            <a:prstDash val="solid"/>
            <a:round/>
            <a:headEnd len="med" w="med" type="none"/>
            <a:tailEnd len="med" w="med" type="triangle"/>
          </a:ln>
        </p:spPr>
      </p:cxnSp>
      <p:cxnSp>
        <p:nvCxnSpPr>
          <p:cNvPr id="164" name="Google Shape;164;p22"/>
          <p:cNvCxnSpPr/>
          <p:nvPr/>
        </p:nvCxnSpPr>
        <p:spPr>
          <a:xfrm>
            <a:off x="3606275" y="3489700"/>
            <a:ext cx="0" cy="553800"/>
          </a:xfrm>
          <a:prstGeom prst="straightConnector1">
            <a:avLst/>
          </a:prstGeom>
          <a:noFill/>
          <a:ln cap="flat" cmpd="sng" w="9525">
            <a:solidFill>
              <a:schemeClr val="dk2"/>
            </a:solidFill>
            <a:prstDash val="solid"/>
            <a:round/>
            <a:headEnd len="med" w="med" type="none"/>
            <a:tailEnd len="med" w="med" type="triangle"/>
          </a:ln>
        </p:spPr>
      </p:cxnSp>
      <p:cxnSp>
        <p:nvCxnSpPr>
          <p:cNvPr id="165" name="Google Shape;165;p22"/>
          <p:cNvCxnSpPr/>
          <p:nvPr/>
        </p:nvCxnSpPr>
        <p:spPr>
          <a:xfrm>
            <a:off x="1697500" y="3489700"/>
            <a:ext cx="0" cy="553800"/>
          </a:xfrm>
          <a:prstGeom prst="straightConnector1">
            <a:avLst/>
          </a:prstGeom>
          <a:noFill/>
          <a:ln cap="flat" cmpd="sng" w="9525">
            <a:solidFill>
              <a:schemeClr val="dk2"/>
            </a:solidFill>
            <a:prstDash val="solid"/>
            <a:round/>
            <a:headEnd len="med" w="med" type="none"/>
            <a:tailEnd len="med" w="med" type="triangle"/>
          </a:ln>
        </p:spPr>
      </p:cxnSp>
      <p:cxnSp>
        <p:nvCxnSpPr>
          <p:cNvPr id="166" name="Google Shape;166;p22"/>
          <p:cNvCxnSpPr/>
          <p:nvPr/>
        </p:nvCxnSpPr>
        <p:spPr>
          <a:xfrm>
            <a:off x="6163450" y="3467850"/>
            <a:ext cx="0" cy="43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3"/>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172" name="Google Shape;172;p23"/>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Pros &amp; Cons</a:t>
            </a:r>
            <a:endParaRPr>
              <a:solidFill>
                <a:schemeClr val="lt1"/>
              </a:solidFill>
            </a:endParaRPr>
          </a:p>
          <a:p>
            <a:pPr indent="0" lvl="0" marL="0" rtl="0" algn="ctr">
              <a:spcBef>
                <a:spcPts val="0"/>
              </a:spcBef>
              <a:spcAft>
                <a:spcPts val="0"/>
              </a:spcAft>
              <a:buNone/>
            </a:pPr>
            <a:r>
              <a:t/>
            </a:r>
            <a:endParaRPr>
              <a:solidFill>
                <a:srgbClr val="FFFFFF"/>
              </a:solidFill>
            </a:endParaRPr>
          </a:p>
        </p:txBody>
      </p:sp>
      <p:sp>
        <p:nvSpPr>
          <p:cNvPr id="173" name="Google Shape;173;p23"/>
          <p:cNvSpPr txBox="1"/>
          <p:nvPr/>
        </p:nvSpPr>
        <p:spPr>
          <a:xfrm>
            <a:off x="320550" y="667500"/>
            <a:ext cx="860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Keycloak offers a range of benefits and drawbacks. Here are some of the pros and cons of using Keycloak:</a:t>
            </a:r>
            <a:endParaRPr/>
          </a:p>
        </p:txBody>
      </p:sp>
      <p:sp>
        <p:nvSpPr>
          <p:cNvPr id="174" name="Google Shape;174;p23"/>
          <p:cNvSpPr txBox="1"/>
          <p:nvPr/>
        </p:nvSpPr>
        <p:spPr>
          <a:xfrm>
            <a:off x="320550" y="966200"/>
            <a:ext cx="90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Pros:</a:t>
            </a:r>
            <a:endParaRPr b="1"/>
          </a:p>
        </p:txBody>
      </p:sp>
      <p:sp>
        <p:nvSpPr>
          <p:cNvPr id="175" name="Google Shape;175;p23"/>
          <p:cNvSpPr txBox="1"/>
          <p:nvPr/>
        </p:nvSpPr>
        <p:spPr>
          <a:xfrm>
            <a:off x="382775" y="1402825"/>
            <a:ext cx="83856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en"/>
              <a:t>Open-Source: </a:t>
            </a:r>
            <a:r>
              <a:rPr lang="en" sz="1200"/>
              <a:t>it is freely available to download and use without any licensing fees. This makes it an attractive option for organizations with limited budgets.</a:t>
            </a:r>
            <a:br>
              <a:rPr lang="en" sz="1200"/>
            </a:br>
            <a:endParaRPr/>
          </a:p>
          <a:p>
            <a:pPr indent="-317500" lvl="0" marL="457200" rtl="0" algn="l">
              <a:spcBef>
                <a:spcPts val="0"/>
              </a:spcBef>
              <a:spcAft>
                <a:spcPts val="0"/>
              </a:spcAft>
              <a:buSzPts val="1400"/>
              <a:buAutoNum type="arabicPeriod"/>
            </a:pPr>
            <a:r>
              <a:rPr lang="en"/>
              <a:t>Support for Multiple Protocols: </a:t>
            </a:r>
            <a:r>
              <a:rPr lang="en" sz="1200"/>
              <a:t>Keycloak supports a variety of protocols, including OAuth 2.0, OpenID Connect, SAML, and LDAP. This flexibility allows organizations to integrate Keycloak into a wide range of applications and services.</a:t>
            </a:r>
            <a:br>
              <a:rPr lang="en" sz="1200"/>
            </a:br>
            <a:endParaRPr/>
          </a:p>
          <a:p>
            <a:pPr indent="-317500" lvl="0" marL="457200" rtl="0" algn="l">
              <a:spcBef>
                <a:spcPts val="0"/>
              </a:spcBef>
              <a:spcAft>
                <a:spcPts val="0"/>
              </a:spcAft>
              <a:buSzPts val="1400"/>
              <a:buAutoNum type="arabicPeriod"/>
            </a:pPr>
            <a:r>
              <a:rPr lang="en"/>
              <a:t>Flexible Authentication Flows: </a:t>
            </a:r>
            <a:r>
              <a:rPr lang="en" sz="1200"/>
              <a:t>Keycloak offers several authentication flows that can be customized to meet specific needs. This includes multi-factor authentication, social login, and passwordless authentication.</a:t>
            </a:r>
            <a:br>
              <a:rPr lang="en" sz="1200"/>
            </a:br>
            <a:endParaRPr/>
          </a:p>
          <a:p>
            <a:pPr indent="-317500" lvl="0" marL="457200" rtl="0" algn="l">
              <a:spcBef>
                <a:spcPts val="0"/>
              </a:spcBef>
              <a:spcAft>
                <a:spcPts val="0"/>
              </a:spcAft>
              <a:buSzPts val="1400"/>
              <a:buAutoNum type="arabicPeriod"/>
            </a:pPr>
            <a:r>
              <a:rPr lang="en"/>
              <a:t>Single Sign-On (SSO): </a:t>
            </a:r>
            <a:r>
              <a:rPr lang="en" sz="1200"/>
              <a:t>Keycloak provides SSO capabilities, which means that users only need to authenticate once to access multiple applications and services.</a:t>
            </a:r>
            <a:br>
              <a:rPr lang="en" sz="1200"/>
            </a:br>
            <a:endParaRPr sz="1200"/>
          </a:p>
          <a:p>
            <a:pPr indent="-317500" lvl="0" marL="457200" rtl="0" algn="l">
              <a:spcBef>
                <a:spcPts val="0"/>
              </a:spcBef>
              <a:spcAft>
                <a:spcPts val="0"/>
              </a:spcAft>
              <a:buSzPts val="1400"/>
              <a:buAutoNum type="arabicPeriod"/>
            </a:pPr>
            <a:r>
              <a:rPr lang="en"/>
              <a:t>Role-Based Access Control (RBAC): </a:t>
            </a:r>
            <a:r>
              <a:rPr lang="en" sz="1200"/>
              <a:t>Keycloak offers RBAC capabilities, which allow organizations to manage access to resources based on roles and permissions.</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4"/>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181" name="Google Shape;181;p24"/>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Pros &amp; Cons</a:t>
            </a:r>
            <a:endParaRPr>
              <a:solidFill>
                <a:schemeClr val="lt1"/>
              </a:solidFill>
            </a:endParaRPr>
          </a:p>
          <a:p>
            <a:pPr indent="0" lvl="0" marL="0" rtl="0" algn="ctr">
              <a:spcBef>
                <a:spcPts val="0"/>
              </a:spcBef>
              <a:spcAft>
                <a:spcPts val="0"/>
              </a:spcAft>
              <a:buNone/>
            </a:pPr>
            <a:r>
              <a:t/>
            </a:r>
            <a:endParaRPr>
              <a:solidFill>
                <a:srgbClr val="FFFFFF"/>
              </a:solidFill>
            </a:endParaRPr>
          </a:p>
        </p:txBody>
      </p:sp>
      <p:sp>
        <p:nvSpPr>
          <p:cNvPr id="182" name="Google Shape;182;p24"/>
          <p:cNvSpPr txBox="1"/>
          <p:nvPr/>
        </p:nvSpPr>
        <p:spPr>
          <a:xfrm>
            <a:off x="382775" y="774025"/>
            <a:ext cx="90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Cons</a:t>
            </a:r>
            <a:r>
              <a:rPr b="1" lang="en"/>
              <a:t>:</a:t>
            </a:r>
            <a:endParaRPr b="1"/>
          </a:p>
        </p:txBody>
      </p:sp>
      <p:sp>
        <p:nvSpPr>
          <p:cNvPr id="183" name="Google Shape;183;p24"/>
          <p:cNvSpPr txBox="1"/>
          <p:nvPr/>
        </p:nvSpPr>
        <p:spPr>
          <a:xfrm>
            <a:off x="382775" y="1174225"/>
            <a:ext cx="83856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Steep Learning Curve: </a:t>
            </a:r>
            <a:r>
              <a:rPr lang="en" sz="1200"/>
              <a:t>Keycloak is a complex piece of software that can be challenging to set up and configure, especially for users without a strong background in IAM.</a:t>
            </a:r>
            <a:endParaRPr sz="1200"/>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Heavy Resource Usage: </a:t>
            </a:r>
            <a:r>
              <a:rPr lang="en" sz="1200"/>
              <a:t>Keycloak can be resource-intensive, especially for large deployments with a high volume of traffic. This can lead to performance issues and increased costs for hardware and infrastructure.</a:t>
            </a:r>
            <a:endParaRPr sz="1200"/>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Limited Community Support: </a:t>
            </a:r>
            <a:r>
              <a:rPr lang="en" sz="1200"/>
              <a:t>While Keycloak has a growing community of users and contributors, it may be more challenging to find support compared to other commercial IAM solutions.</a:t>
            </a:r>
            <a:endParaRPr sz="1200"/>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Limited Integrations: </a:t>
            </a:r>
            <a:r>
              <a:rPr lang="en" sz="1200"/>
              <a:t>While Keycloak offers support for a variety of protocols, it may not integrate as smoothly with certain applications and services as other commercial IAM solutions.</a:t>
            </a:r>
            <a:endParaRPr sz="1200"/>
          </a:p>
          <a:p>
            <a:pPr indent="0" lvl="0" marL="0" rtl="0" algn="l">
              <a:spcBef>
                <a:spcPts val="0"/>
              </a:spcBef>
              <a:spcAft>
                <a:spcPts val="0"/>
              </a:spcAft>
              <a:buNone/>
            </a:pPr>
            <a:r>
              <a:t/>
            </a:r>
            <a:endParaRPr/>
          </a:p>
        </p:txBody>
      </p:sp>
      <p:sp>
        <p:nvSpPr>
          <p:cNvPr id="184" name="Google Shape;184;p24"/>
          <p:cNvSpPr txBox="1"/>
          <p:nvPr/>
        </p:nvSpPr>
        <p:spPr>
          <a:xfrm>
            <a:off x="382775" y="3744700"/>
            <a:ext cx="8173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Overall, Keycloak is a powerful and flexible IAM solution that offers a range of benefits, but it may not be the best fit for every organization. Before deciding to use Keycloak, it's essential to consider its pros and cons carefully and ensure that it meets your specific needs and requirements.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5"/>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190" name="Google Shape;190;p25"/>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Some problems and solution </a:t>
            </a:r>
            <a:endParaRPr>
              <a:solidFill>
                <a:schemeClr val="lt1"/>
              </a:solidFill>
            </a:endParaRPr>
          </a:p>
          <a:p>
            <a:pPr indent="0" lvl="0" marL="0" rtl="0" algn="ctr">
              <a:spcBef>
                <a:spcPts val="0"/>
              </a:spcBef>
              <a:spcAft>
                <a:spcPts val="0"/>
              </a:spcAft>
              <a:buNone/>
            </a:pPr>
            <a:r>
              <a:t/>
            </a:r>
            <a:endParaRPr>
              <a:solidFill>
                <a:srgbClr val="FFFFFF"/>
              </a:solidFill>
            </a:endParaRPr>
          </a:p>
        </p:txBody>
      </p:sp>
      <p:sp>
        <p:nvSpPr>
          <p:cNvPr id="191" name="Google Shape;191;p25"/>
          <p:cNvSpPr txBox="1"/>
          <p:nvPr/>
        </p:nvSpPr>
        <p:spPr>
          <a:xfrm>
            <a:off x="225825" y="1041800"/>
            <a:ext cx="8465700" cy="12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Release Notes: </a:t>
            </a:r>
            <a:r>
              <a:rPr lang="en">
                <a:solidFill>
                  <a:schemeClr val="dk1"/>
                </a:solidFill>
              </a:rPr>
              <a:t>Keycloak</a:t>
            </a:r>
            <a:r>
              <a:rPr lang="en">
                <a:solidFill>
                  <a:schemeClr val="dk1"/>
                </a:solidFill>
              </a:rPr>
              <a:t> 21.0.0</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Old Admin Console removed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Keycloak 19 the new admin console was graduated to the new default admin console, and the old admin console was deprecated. In this release the old admin console has been removed completely.</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p:txBody>
      </p:sp>
      <p:sp>
        <p:nvSpPr>
          <p:cNvPr id="192" name="Google Shape;192;p25"/>
          <p:cNvSpPr txBox="1"/>
          <p:nvPr/>
        </p:nvSpPr>
        <p:spPr>
          <a:xfrm>
            <a:off x="313300" y="2481450"/>
            <a:ext cx="80211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For API:</a:t>
            </a:r>
            <a:br>
              <a:rPr lang="en"/>
            </a:br>
            <a:r>
              <a:rPr lang="en" sz="1200"/>
              <a:t>{base url}/admin/realms</a:t>
            </a:r>
            <a:endParaRPr sz="1200"/>
          </a:p>
          <a:p>
            <a:pPr indent="0" lvl="0" marL="0" rtl="0" algn="l">
              <a:spcBef>
                <a:spcPts val="0"/>
              </a:spcBef>
              <a:spcAft>
                <a:spcPts val="0"/>
              </a:spcAft>
              <a:buNone/>
            </a:pPr>
            <a:r>
              <a:rPr lang="en" sz="1200"/>
              <a:t>http://localhost:8080/admin/realms</a:t>
            </a:r>
            <a:endParaRPr sz="1200"/>
          </a:p>
          <a:p>
            <a:pPr indent="0" lvl="0" marL="0" rtl="0" algn="l">
              <a:spcBef>
                <a:spcPts val="0"/>
              </a:spcBef>
              <a:spcAft>
                <a:spcPts val="0"/>
              </a:spcAft>
              <a:buNone/>
            </a:pPr>
            <a:br>
              <a:rPr lang="en"/>
            </a:br>
            <a:r>
              <a:rPr lang="en" sz="1200"/>
              <a:t>GET  /{realm}/clients/{id}/roles</a:t>
            </a:r>
            <a:br>
              <a:rPr lang="en" sz="1200"/>
            </a:br>
            <a:r>
              <a:rPr lang="en" sz="1200"/>
              <a:t>	</a:t>
            </a:r>
            <a:r>
              <a:rPr lang="en" sz="1200">
                <a:solidFill>
                  <a:srgbClr val="980000"/>
                </a:solidFill>
              </a:rPr>
              <a:t>/e-com/clients/dd333330ksdkfsdf/roles</a:t>
            </a:r>
            <a:r>
              <a:rPr lang="en" sz="1200"/>
              <a:t> </a:t>
            </a:r>
            <a:endParaRPr sz="1200"/>
          </a:p>
          <a:p>
            <a:pPr indent="0" lvl="0" marL="0" rtl="0" algn="l">
              <a:spcBef>
                <a:spcPts val="0"/>
              </a:spcBef>
              <a:spcAft>
                <a:spcPts val="0"/>
              </a:spcAft>
              <a:buNone/>
            </a:pPr>
            <a:r>
              <a:rPr lang="en" sz="1200">
                <a:solidFill>
                  <a:schemeClr val="dk1"/>
                </a:solidFill>
              </a:rPr>
              <a:t>	/admin/realms/e-com/clients/dd333330ksdkfsdf/roles </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6"/>
          <p:cNvPicPr preferRelativeResize="0"/>
          <p:nvPr/>
        </p:nvPicPr>
        <p:blipFill>
          <a:blip r:embed="rId3">
            <a:alphaModFix/>
          </a:blip>
          <a:stretch>
            <a:fillRect/>
          </a:stretch>
        </p:blipFill>
        <p:spPr>
          <a:xfrm>
            <a:off x="150450" y="4790400"/>
            <a:ext cx="444050" cy="243650"/>
          </a:xfrm>
          <a:prstGeom prst="rect">
            <a:avLst/>
          </a:prstGeom>
          <a:noFill/>
          <a:ln>
            <a:noFill/>
          </a:ln>
        </p:spPr>
      </p:pic>
      <p:sp>
        <p:nvSpPr>
          <p:cNvPr id="198" name="Google Shape;198;p26"/>
          <p:cNvSpPr txBox="1"/>
          <p:nvPr>
            <p:ph type="title"/>
          </p:nvPr>
        </p:nvSpPr>
        <p:spPr>
          <a:xfrm>
            <a:off x="0" y="0"/>
            <a:ext cx="9144000" cy="572700"/>
          </a:xfrm>
          <a:prstGeom prst="rect">
            <a:avLst/>
          </a:prstGeom>
          <a:solidFill>
            <a:srgbClr val="428BCA"/>
          </a:solid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References</a:t>
            </a:r>
            <a:endParaRPr>
              <a:solidFill>
                <a:schemeClr val="lt1"/>
              </a:solidFill>
            </a:endParaRPr>
          </a:p>
          <a:p>
            <a:pPr indent="0" lvl="0" marL="0" rtl="0" algn="ctr">
              <a:spcBef>
                <a:spcPts val="0"/>
              </a:spcBef>
              <a:spcAft>
                <a:spcPts val="0"/>
              </a:spcAft>
              <a:buNone/>
            </a:pPr>
            <a:r>
              <a:t/>
            </a:r>
            <a:endParaRPr>
              <a:solidFill>
                <a:srgbClr val="FFFFFF"/>
              </a:solidFill>
            </a:endParaRPr>
          </a:p>
        </p:txBody>
      </p:sp>
      <p:sp>
        <p:nvSpPr>
          <p:cNvPr id="199" name="Google Shape;199;p26"/>
          <p:cNvSpPr txBox="1"/>
          <p:nvPr/>
        </p:nvSpPr>
        <p:spPr>
          <a:xfrm>
            <a:off x="247700" y="888825"/>
            <a:ext cx="8742600" cy="36573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AutoNum type="arabicPeriod"/>
            </a:pPr>
            <a:r>
              <a:rPr lang="en" u="sng">
                <a:solidFill>
                  <a:schemeClr val="hlink"/>
                </a:solidFill>
                <a:hlinkClick r:id="rId4"/>
              </a:rPr>
              <a:t>https://www.keycloak.org/</a:t>
            </a:r>
            <a:endParaRPr/>
          </a:p>
          <a:p>
            <a:pPr indent="-317500" lvl="0" marL="457200" rtl="0" algn="l">
              <a:lnSpc>
                <a:spcPct val="150000"/>
              </a:lnSpc>
              <a:spcBef>
                <a:spcPts val="0"/>
              </a:spcBef>
              <a:spcAft>
                <a:spcPts val="0"/>
              </a:spcAft>
              <a:buSzPts val="1400"/>
              <a:buAutoNum type="arabicPeriod"/>
            </a:pPr>
            <a:r>
              <a:rPr lang="en" u="sng">
                <a:solidFill>
                  <a:schemeClr val="hlink"/>
                </a:solidFill>
                <a:hlinkClick r:id="rId5"/>
              </a:rPr>
              <a:t>https://www.keycloak.org/docs/latest/server_admin/</a:t>
            </a:r>
            <a:endParaRPr/>
          </a:p>
          <a:p>
            <a:pPr indent="-317500" lvl="0" marL="457200" rtl="0" algn="l">
              <a:lnSpc>
                <a:spcPct val="150000"/>
              </a:lnSpc>
              <a:spcBef>
                <a:spcPts val="0"/>
              </a:spcBef>
              <a:spcAft>
                <a:spcPts val="0"/>
              </a:spcAft>
              <a:buSzPts val="1400"/>
              <a:buAutoNum type="arabicPeriod"/>
            </a:pPr>
            <a:r>
              <a:rPr lang="en" u="sng">
                <a:solidFill>
                  <a:schemeClr val="hlink"/>
                </a:solidFill>
                <a:hlinkClick r:id="rId6"/>
              </a:rPr>
              <a:t>https://www.keycloak.org/docs/latest/release_notes/index.html</a:t>
            </a:r>
            <a:endParaRPr/>
          </a:p>
          <a:p>
            <a:pPr indent="-317500" lvl="0" marL="457200" rtl="0" algn="l">
              <a:lnSpc>
                <a:spcPct val="150000"/>
              </a:lnSpc>
              <a:spcBef>
                <a:spcPts val="0"/>
              </a:spcBef>
              <a:spcAft>
                <a:spcPts val="0"/>
              </a:spcAft>
              <a:buSzPts val="1400"/>
              <a:buAutoNum type="arabicPeriod"/>
            </a:pPr>
            <a:r>
              <a:rPr lang="en" u="sng">
                <a:solidFill>
                  <a:schemeClr val="hlink"/>
                </a:solidFill>
                <a:hlinkClick r:id="rId7"/>
              </a:rPr>
              <a:t>https://www.keycloak.org/docs-api/21.0.1/rest-api/index.html</a:t>
            </a:r>
            <a:endParaRPr/>
          </a:p>
          <a:p>
            <a:pPr indent="-317500" lvl="0" marL="457200" rtl="0" algn="l">
              <a:lnSpc>
                <a:spcPct val="150000"/>
              </a:lnSpc>
              <a:spcBef>
                <a:spcPts val="0"/>
              </a:spcBef>
              <a:spcAft>
                <a:spcPts val="0"/>
              </a:spcAft>
              <a:buSzPts val="1400"/>
              <a:buAutoNum type="arabicPeriod"/>
            </a:pPr>
            <a:r>
              <a:rPr lang="en" u="sng">
                <a:solidFill>
                  <a:schemeClr val="hlink"/>
                </a:solidFill>
                <a:hlinkClick r:id="rId8"/>
              </a:rPr>
              <a:t>https://github.com/keycloak/keycloak-nodejs-admin-client</a:t>
            </a:r>
            <a:endParaRPr/>
          </a:p>
          <a:p>
            <a:pPr indent="-317500" lvl="0" marL="457200" rtl="0" algn="l">
              <a:lnSpc>
                <a:spcPct val="150000"/>
              </a:lnSpc>
              <a:spcBef>
                <a:spcPts val="0"/>
              </a:spcBef>
              <a:spcAft>
                <a:spcPts val="0"/>
              </a:spcAft>
              <a:buSzPts val="1400"/>
              <a:buAutoNum type="arabicPeriod"/>
            </a:pPr>
            <a:r>
              <a:rPr lang="en" u="sng">
                <a:solidFill>
                  <a:schemeClr val="hlink"/>
                </a:solidFill>
                <a:hlinkClick r:id="rId9"/>
              </a:rPr>
              <a:t>https://medium.com/codex/introduction-to-keycloak-227c3902754a</a:t>
            </a:r>
            <a:endParaRPr/>
          </a:p>
          <a:p>
            <a:pPr indent="0" lvl="0" marL="45720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0" y="0"/>
            <a:ext cx="9144000" cy="5143500"/>
          </a:xfrm>
          <a:prstGeom prst="rect">
            <a:avLst/>
          </a:prstGeom>
          <a:solidFill>
            <a:srgbClr val="428BCA"/>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Thank you!</a:t>
            </a:r>
            <a:endParaRPr>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